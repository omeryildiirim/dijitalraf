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DCC21-5901-48A7-AFF9-F0AAA9A423B6}" type="datetimeFigureOut">
              <a:rPr lang="tr-TR" smtClean="0"/>
              <a:t>21.12.2025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C42D8-B0DC-41C4-8748-1042D9109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065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7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3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image" Target="../media/image17.png"/><Relationship Id="rId21" Type="http://schemas.openxmlformats.org/officeDocument/2006/relationships/image" Target="../media/image70.png"/><Relationship Id="rId34" Type="http://schemas.openxmlformats.org/officeDocument/2006/relationships/image" Target="../media/image8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18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17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34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18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7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3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8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7.png"/><Relationship Id="rId7" Type="http://schemas.openxmlformats.org/officeDocument/2006/relationships/image" Target="../media/image11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8.png"/><Relationship Id="rId9" Type="http://schemas.openxmlformats.org/officeDocument/2006/relationships/image" Target="../media/image1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7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3.png"/><Relationship Id="rId10" Type="http://schemas.openxmlformats.org/officeDocument/2006/relationships/image" Target="../media/image129.png"/><Relationship Id="rId4" Type="http://schemas.openxmlformats.org/officeDocument/2006/relationships/image" Target="../media/image18.png"/><Relationship Id="rId9" Type="http://schemas.openxmlformats.org/officeDocument/2006/relationships/image" Target="../media/image128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17.png"/><Relationship Id="rId21" Type="http://schemas.openxmlformats.org/officeDocument/2006/relationships/image" Target="../media/image34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18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7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34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8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14" y="228764"/>
            <a:ext cx="1104572" cy="11045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5017" y="1286773"/>
            <a:ext cx="2243967" cy="5125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5010150"/>
            <a:ext cx="381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00" y="6057900"/>
            <a:ext cx="18288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1885950"/>
            <a:ext cx="38100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0" y="1790700"/>
            <a:ext cx="3810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19812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0" y="1838325"/>
            <a:ext cx="381000" cy="5238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1933575"/>
            <a:ext cx="381000" cy="4286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0425" y="16764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3775" y="17716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1200" y="4029075"/>
            <a:ext cx="3771900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0" y="38481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0750" y="3962400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029075"/>
            <a:ext cx="3771900" cy="19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660121" y="2667000"/>
            <a:ext cx="287160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1099498" y="3276600"/>
            <a:ext cx="999285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4532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 Destekli Kütüphane Otomasyon Sistemi</a:t>
            </a:r>
            <a:endParaRPr lang="en-US" sz="2250" dirty="0"/>
          </a:p>
        </p:txBody>
      </p:sp>
      <p:sp>
        <p:nvSpPr>
          <p:cNvPr id="21" name="Text 2"/>
          <p:cNvSpPr/>
          <p:nvPr/>
        </p:nvSpPr>
        <p:spPr>
          <a:xfrm>
            <a:off x="3446413" y="4457700"/>
            <a:ext cx="63590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 Yapay Zeka Teknolojisiyle Güçlendirilmiş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4229546" y="4800600"/>
            <a:ext cx="44794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Tabanlı Kütüphane Otomasyon Sistemi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3665756" y="5153527"/>
            <a:ext cx="44794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tr-TR" sz="1350" dirty="0" smtClean="0">
              <a:solidFill>
                <a:srgbClr val="4B5563"/>
              </a:solidFill>
              <a:ea typeface="ui-sans-serif" pitchFamily="34" charset="-122"/>
            </a:endParaRPr>
          </a:p>
          <a:p>
            <a:pPr marL="0" indent="0" algn="ctr">
              <a:lnSpc>
                <a:spcPts val="2100"/>
              </a:lnSpc>
              <a:buNone/>
            </a:pPr>
            <a:r>
              <a:rPr lang="tr-TR" sz="1350" dirty="0" smtClean="0">
                <a:solidFill>
                  <a:srgbClr val="4B5563"/>
                </a:solidFill>
                <a:ea typeface="ui-sans-serif" pitchFamily="34" charset="-122"/>
              </a:rPr>
              <a:t>BERNA CELEP</a:t>
            </a:r>
            <a:endParaRPr lang="tr-TR" sz="13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tr-TR" sz="1350" dirty="0" smtClean="0">
                <a:solidFill>
                  <a:srgbClr val="4B5563"/>
                </a:solidFill>
                <a:ea typeface="ui-sans-serif" pitchFamily="34" charset="-122"/>
              </a:rPr>
              <a:t>ZEYNEP YILDIRIM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914400"/>
            <a:ext cx="5657850" cy="3429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334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20383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15265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287655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29908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0045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371475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914400"/>
            <a:ext cx="5657850" cy="3429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133475"/>
            <a:ext cx="1714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7335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50" y="184785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25717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50" y="268605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40995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5242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5750" y="4762500"/>
            <a:ext cx="11620500" cy="1104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69111" y="4953000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 Genel Bakış ve Problem Tanımı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781050" y="1104900"/>
            <a:ext cx="52768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Geleneksel Kütüphane Sistemlerinin Eksiklikleri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000125" y="1866900"/>
            <a:ext cx="4752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Statik Yapı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000125" y="2133600"/>
            <a:ext cx="47529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Geleneksel sistemler, kütüphane işlemlerini dijitalleştirerek kullanıcılara akıllı bir asistan deneyimi sunamaz.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000125" y="2705100"/>
            <a:ext cx="4752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Kitap Önerileri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000125" y="2971800"/>
            <a:ext cx="47529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Doğal dilde kullanıcı isteklerine uygun kitap önerileri sunulamaz.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000125" y="3543300"/>
            <a:ext cx="47287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Envanter Yönetimi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1000125" y="3810000"/>
            <a:ext cx="56744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Stok takibi ve kiralama işlemlerinde manuel girişler gereklidir.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6686550" y="1104900"/>
            <a:ext cx="6332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DijitalRaf'ın Yenilikçi Çözümleri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6962775" y="1562100"/>
            <a:ext cx="5703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 Destekli Asistan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6962775" y="1828800"/>
            <a:ext cx="47529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 yapay zeka teknolojisiyle güçlendirilmiş, doğal dilde kitap önerileri sunar.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962775" y="2400300"/>
            <a:ext cx="4752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Tabanlı Platform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6962775" y="2667000"/>
            <a:ext cx="47529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Tarayıcı tabanlı olarak masaüstü ve mobil cihazlarda kusursuz görüntülenir.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6962775" y="3238500"/>
            <a:ext cx="4752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Güvenli İşlemler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6962775" y="3505200"/>
            <a:ext cx="47529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Kitap kiralama, iade ve stok takibi işlemleri güvenli ve otomatik olarak yönetilir.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438150" y="4914900"/>
            <a:ext cx="11315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Proje Hedefi</a:t>
            </a:r>
            <a:endParaRPr lang="en-US" sz="1500" dirty="0"/>
          </a:p>
        </p:txBody>
      </p:sp>
      <p:sp>
        <p:nvSpPr>
          <p:cNvPr id="39" name="Text 16"/>
          <p:cNvSpPr/>
          <p:nvPr/>
        </p:nvSpPr>
        <p:spPr>
          <a:xfrm>
            <a:off x="438150" y="5257800"/>
            <a:ext cx="11315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DijitalRaf, geleneksel kütüphane işlemlerini dijitalleştirerek kullanıcılara akıllı bir asistan deneyimi sunmak ve kütüphanecilik süreçlerini yapay zeka desteğiyle modernize etmeyi amaçlar.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819150"/>
            <a:ext cx="5581650" cy="435233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000125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419225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" y="1514475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2257425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2352675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3095625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1908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3933825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0290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819150"/>
            <a:ext cx="5695950" cy="433804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000125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419225"/>
            <a:ext cx="34290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525" y="1514475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028825"/>
            <a:ext cx="3429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6050" y="21240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867025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86525" y="2962275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5750" y="5480913"/>
            <a:ext cx="11620500" cy="571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75817" y="5647359"/>
            <a:ext cx="190500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İhtiyaç Analizi ve Kullanıcı Gereksinimleri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752475" y="962025"/>
            <a:ext cx="6240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Son Kullanıcı (Üye) Gereksinimleri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962025" y="1419225"/>
            <a:ext cx="4714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Akıllı Asistan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962025" y="1685925"/>
            <a:ext cx="47148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"Polisiye roman severim ama kısa olsun" gibi doğal dildeki isteklerine uygun kitap önerileri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962025" y="2257425"/>
            <a:ext cx="4714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Kiralama Yönetimi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962025" y="2524125"/>
            <a:ext cx="47148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Kitapların stok durumunu görüntüleyebilme ve güvenli kiralama işlemleri yapabilme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962025" y="3095625"/>
            <a:ext cx="4714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Kişisel Takip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962025" y="3362325"/>
            <a:ext cx="47148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Profil üzerinden geçmiş kiralamaları, iade tarihlerini ve favori kitapları görüntüleyebilme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962025" y="3933825"/>
            <a:ext cx="4714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İade İşlemi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962025" y="4200525"/>
            <a:ext cx="47148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Kiralanan kitapların panel üzerinden iade edilebilmesi; stok bütünlüğünü korumak amacıyla iade işleminin kargo sürecine bağlanması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762750" y="962025"/>
            <a:ext cx="6377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Yönetici (Admin) Gereksinimleri</a:t>
            </a:r>
            <a:endParaRPr lang="en-US" sz="1800" dirty="0"/>
          </a:p>
        </p:txBody>
      </p:sp>
      <p:sp>
        <p:nvSpPr>
          <p:cNvPr id="36" name="Text 11"/>
          <p:cNvSpPr/>
          <p:nvPr/>
        </p:nvSpPr>
        <p:spPr>
          <a:xfrm>
            <a:off x="6886575" y="1419225"/>
            <a:ext cx="3977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Envanter Kontrolü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6886575" y="1685925"/>
            <a:ext cx="47730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Kitap ekleme, silme ve güncelleme (CRUD) işlemleri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886575" y="2028825"/>
            <a:ext cx="482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Hareket Takibi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6886575" y="2295525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Geciken iadelerin ve aktif kiralamaların tek bir panelden yönetilmesi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886575" y="2867025"/>
            <a:ext cx="41749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Raporlama</a:t>
            </a:r>
            <a:endParaRPr lang="en-US" sz="1350" dirty="0"/>
          </a:p>
        </p:txBody>
      </p:sp>
      <p:sp>
        <p:nvSpPr>
          <p:cNvPr id="41" name="Text 16"/>
          <p:cNvSpPr/>
          <p:nvPr/>
        </p:nvSpPr>
        <p:spPr>
          <a:xfrm>
            <a:off x="6886575" y="3133725"/>
            <a:ext cx="50099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Üye ve kitap istatistiklerinin grafiksel olarak sunulması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315773" y="5609259"/>
            <a:ext cx="11391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Gereksinim Analizi Süreci</a:t>
            </a:r>
            <a:endParaRPr lang="en-US" sz="1500" dirty="0"/>
          </a:p>
        </p:txBody>
      </p:sp>
      <p:sp>
        <p:nvSpPr>
          <p:cNvPr id="43" name="Text 18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914400"/>
            <a:ext cx="4708475" cy="510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208" y="11334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711226"/>
            <a:ext cx="4327475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1873151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1939826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2695426"/>
            <a:ext cx="4327475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2857351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924026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3679627"/>
            <a:ext cx="4327475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" y="3841552"/>
            <a:ext cx="28575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08227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250" y="4663827"/>
            <a:ext cx="4327475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125" y="4825752"/>
            <a:ext cx="285750" cy="285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5325" y="4892427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22825" y="914400"/>
            <a:ext cx="6683276" cy="5105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13325" y="1133475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13325" y="1600200"/>
            <a:ext cx="21907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13325" y="2514600"/>
            <a:ext cx="3093988" cy="838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27625" y="2743200"/>
            <a:ext cx="273397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569000" y="28575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21613" y="2514600"/>
            <a:ext cx="3093988" cy="838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35913" y="264795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59738" y="276225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13325" y="3467100"/>
            <a:ext cx="3093988" cy="647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27625" y="360045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622875" y="371475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21613" y="3467100"/>
            <a:ext cx="3093988" cy="647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35913" y="3600450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831163" y="3714750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13325" y="4381500"/>
            <a:ext cx="190500" cy="1905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Teknik Altyapı ve Kullanılan Teknolojiler</a:t>
            </a:r>
            <a:endParaRPr lang="en-US" sz="2250" dirty="0"/>
          </a:p>
        </p:txBody>
      </p:sp>
      <p:sp>
        <p:nvSpPr>
          <p:cNvPr id="36" name="Text 1"/>
          <p:cNvSpPr/>
          <p:nvPr/>
        </p:nvSpPr>
        <p:spPr>
          <a:xfrm>
            <a:off x="43502" y="1104900"/>
            <a:ext cx="51929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Teknoloji Yığını</a:t>
            </a:r>
            <a:endParaRPr lang="en-US" sz="1800" dirty="0"/>
          </a:p>
        </p:txBody>
      </p:sp>
      <p:sp>
        <p:nvSpPr>
          <p:cNvPr id="37" name="Text 2"/>
          <p:cNvSpPr/>
          <p:nvPr/>
        </p:nvSpPr>
        <p:spPr>
          <a:xfrm>
            <a:off x="1000125" y="1806476"/>
            <a:ext cx="23758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8" name="Text 3"/>
          <p:cNvSpPr/>
          <p:nvPr/>
        </p:nvSpPr>
        <p:spPr>
          <a:xfrm>
            <a:off x="1000125" y="2035076"/>
            <a:ext cx="28510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HTML5, CSS3, JavaScript, Bootstrap</a:t>
            </a:r>
            <a:endParaRPr lang="en-US" sz="1050" dirty="0"/>
          </a:p>
        </p:txBody>
      </p:sp>
      <p:sp>
        <p:nvSpPr>
          <p:cNvPr id="39" name="Text 4"/>
          <p:cNvSpPr/>
          <p:nvPr/>
        </p:nvSpPr>
        <p:spPr>
          <a:xfrm>
            <a:off x="1000125" y="2790676"/>
            <a:ext cx="21463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1000125" y="3019276"/>
            <a:ext cx="25756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PHP (Symfony Framework), PDO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1000125" y="3774877"/>
            <a:ext cx="26612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 Entegrasyonu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1000125" y="4003477"/>
            <a:ext cx="26612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 API</a:t>
            </a:r>
            <a:endParaRPr lang="en-US" sz="1050" dirty="0"/>
          </a:p>
        </p:txBody>
      </p:sp>
      <p:sp>
        <p:nvSpPr>
          <p:cNvPr id="43" name="Text 8"/>
          <p:cNvSpPr/>
          <p:nvPr/>
        </p:nvSpPr>
        <p:spPr>
          <a:xfrm>
            <a:off x="1000125" y="4759077"/>
            <a:ext cx="10665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Veritabanı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1000125" y="4987677"/>
            <a:ext cx="8888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</a:t>
            </a:r>
            <a:endParaRPr lang="en-US" sz="1050" dirty="0"/>
          </a:p>
        </p:txBody>
      </p:sp>
      <p:sp>
        <p:nvSpPr>
          <p:cNvPr id="45" name="Text 10"/>
          <p:cNvSpPr/>
          <p:nvPr/>
        </p:nvSpPr>
        <p:spPr>
          <a:xfrm>
            <a:off x="5775275" y="1104900"/>
            <a:ext cx="756273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Sistem Mimari ve Geliştirme Süreci</a:t>
            </a:r>
            <a:endParaRPr lang="en-US" sz="1800" dirty="0"/>
          </a:p>
        </p:txBody>
      </p:sp>
      <p:sp>
        <p:nvSpPr>
          <p:cNvPr id="46" name="Text 11"/>
          <p:cNvSpPr/>
          <p:nvPr/>
        </p:nvSpPr>
        <p:spPr>
          <a:xfrm>
            <a:off x="5708600" y="1562100"/>
            <a:ext cx="63022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Modüler Sistem Mimarisi</a:t>
            </a:r>
            <a:endParaRPr lang="en-US" sz="1500" dirty="0"/>
          </a:p>
        </p:txBody>
      </p:sp>
      <p:sp>
        <p:nvSpPr>
          <p:cNvPr id="47" name="Text 12"/>
          <p:cNvSpPr/>
          <p:nvPr/>
        </p:nvSpPr>
        <p:spPr>
          <a:xfrm>
            <a:off x="5413325" y="1905000"/>
            <a:ext cx="630227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DijitalRaf, modüler yapıya sahip bir sistem mimarisi ile geliştirilmiş olup, her katman ayrı ayrı geliştirilebilir ve test edilebilir.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5915323" y="2628900"/>
            <a:ext cx="29732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Güvenlik Katmanı</a:t>
            </a: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5915323" y="2857500"/>
            <a:ext cx="247769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Injection, XSS ve diğer yaygın saldırılar against</a:t>
            </a:r>
            <a:endParaRPr lang="en-US" sz="1050" dirty="0"/>
          </a:p>
        </p:txBody>
      </p:sp>
      <p:sp>
        <p:nvSpPr>
          <p:cNvPr id="50" name="Text 15"/>
          <p:cNvSpPr/>
          <p:nvPr/>
        </p:nvSpPr>
        <p:spPr>
          <a:xfrm>
            <a:off x="9231213" y="2628900"/>
            <a:ext cx="21609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 Katmanı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9231213" y="2857500"/>
            <a:ext cx="216098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veritabanı yönetimi</a:t>
            </a:r>
            <a:endParaRPr lang="en-US" sz="1050" dirty="0"/>
          </a:p>
        </p:txBody>
      </p:sp>
      <p:sp>
        <p:nvSpPr>
          <p:cNvPr id="52" name="Text 17"/>
          <p:cNvSpPr/>
          <p:nvPr/>
        </p:nvSpPr>
        <p:spPr>
          <a:xfrm>
            <a:off x="6022925" y="3581400"/>
            <a:ext cx="20113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Servis Katmanı</a:t>
            </a: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6022925" y="3810000"/>
            <a:ext cx="20113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PHP sınıfları ve metodları</a:t>
            </a:r>
            <a:endParaRPr lang="en-US" sz="1050" dirty="0"/>
          </a:p>
        </p:txBody>
      </p:sp>
      <p:sp>
        <p:nvSpPr>
          <p:cNvPr id="54" name="Text 19"/>
          <p:cNvSpPr/>
          <p:nvPr/>
        </p:nvSpPr>
        <p:spPr>
          <a:xfrm>
            <a:off x="9231213" y="3581400"/>
            <a:ext cx="2203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Katmanı</a:t>
            </a: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9231213" y="3810000"/>
            <a:ext cx="2644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 API entegrasyonu</a:t>
            </a:r>
            <a:endParaRPr lang="en-US" sz="1050" dirty="0"/>
          </a:p>
        </p:txBody>
      </p:sp>
      <p:sp>
        <p:nvSpPr>
          <p:cNvPr id="56" name="Text 21"/>
          <p:cNvSpPr/>
          <p:nvPr/>
        </p:nvSpPr>
        <p:spPr>
          <a:xfrm>
            <a:off x="5680025" y="4343400"/>
            <a:ext cx="75627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Geliştirme Süreci (Iteratif Model)</a:t>
            </a:r>
            <a:endParaRPr lang="en-US" sz="1500" dirty="0"/>
          </a:p>
        </p:txBody>
      </p:sp>
      <p:sp>
        <p:nvSpPr>
          <p:cNvPr id="57" name="Text 22"/>
          <p:cNvSpPr/>
          <p:nvPr/>
        </p:nvSpPr>
        <p:spPr>
          <a:xfrm>
            <a:off x="5413325" y="4686300"/>
            <a:ext cx="75627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Planlama:</a:t>
            </a: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Veritabanı şeması ve yapay zeka senaryolarının kurgulanması</a:t>
            </a:r>
            <a:endParaRPr lang="en-US" sz="1200" dirty="0"/>
          </a:p>
        </p:txBody>
      </p:sp>
      <p:sp>
        <p:nvSpPr>
          <p:cNvPr id="58" name="Text 23"/>
          <p:cNvSpPr/>
          <p:nvPr/>
        </p:nvSpPr>
        <p:spPr>
          <a:xfrm>
            <a:off x="5413325" y="4991100"/>
            <a:ext cx="75627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Tasarım:</a:t>
            </a: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Arayüzlerin (UI) ve Chatbot penceresinin Figma'da çizilmesi</a:t>
            </a:r>
            <a:endParaRPr lang="en-US" sz="1200" dirty="0"/>
          </a:p>
        </p:txBody>
      </p:sp>
      <p:sp>
        <p:nvSpPr>
          <p:cNvPr id="59" name="Text 24"/>
          <p:cNvSpPr/>
          <p:nvPr/>
        </p:nvSpPr>
        <p:spPr>
          <a:xfrm>
            <a:off x="5413325" y="5295900"/>
            <a:ext cx="75627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Kodlama:</a:t>
            </a: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Backend API'larının yazılması ve Gemini API entegrasyonu</a:t>
            </a:r>
            <a:endParaRPr lang="en-US" sz="1200" dirty="0"/>
          </a:p>
        </p:txBody>
      </p:sp>
      <p:sp>
        <p:nvSpPr>
          <p:cNvPr id="60" name="Text 25"/>
          <p:cNvSpPr/>
          <p:nvPr/>
        </p:nvSpPr>
        <p:spPr>
          <a:xfrm>
            <a:off x="5413325" y="5600700"/>
            <a:ext cx="75627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Test:</a:t>
            </a: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Fonksiyonel testler ve yapay zeka yanıtlarının kontrolü</a:t>
            </a:r>
            <a:endParaRPr lang="en-US" sz="1200" dirty="0"/>
          </a:p>
        </p:txBody>
      </p:sp>
      <p:sp>
        <p:nvSpPr>
          <p:cNvPr id="61" name="Text 26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819150"/>
            <a:ext cx="5695950" cy="43148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99060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1952625"/>
            <a:ext cx="2647950" cy="1028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095500"/>
            <a:ext cx="219075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0875" y="1952625"/>
            <a:ext cx="2647950" cy="1028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2095500"/>
            <a:ext cx="15240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3190875"/>
            <a:ext cx="2647950" cy="121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33375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0875" y="3190875"/>
            <a:ext cx="264795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0" y="333375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84772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238250"/>
            <a:ext cx="569595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3811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2371725"/>
            <a:ext cx="20002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2952750"/>
            <a:ext cx="3429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30480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37909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05550" y="38862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4629150"/>
            <a:ext cx="34290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6500" y="47244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Veritabanı Tasarımı ve Veri Yönetimi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704850" y="962025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İlişkisel Veritabanı Şeması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428625" y="1381125"/>
            <a:ext cx="5410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veritabanı yönetim sistemi tercih edilerek ilişkisel veri bütünlüğü sağlanmıştır.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866775" y="2047875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uyeler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571500" y="2314575"/>
            <a:ext cx="2362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Üye kimlik, iletişim bilgileri ve şifrelerin (hashlenmiş olarak) tutulduğu tablo.</a:t>
            </a:r>
            <a:endParaRPr lang="en-US" sz="1050" dirty="0"/>
          </a:p>
        </p:txBody>
      </p:sp>
      <p:sp>
        <p:nvSpPr>
          <p:cNvPr id="30" name="Text 5"/>
          <p:cNvSpPr/>
          <p:nvPr/>
        </p:nvSpPr>
        <p:spPr>
          <a:xfrm>
            <a:off x="3562350" y="2047875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kitaplar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3333750" y="2314575"/>
            <a:ext cx="2362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Kitap adı, yazar, tür, stok ve resim bilgilerini içeren envanter tablosu.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819150" y="3286125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kiralamalar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571500" y="3552825"/>
            <a:ext cx="23622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Hangi üyenin hangi kitabı ne zaman kiraladığını, iade edip etmediğini ve iade tarihini tutan işlem tablosu.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3581400" y="3286125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favoriler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3333750" y="3552825"/>
            <a:ext cx="2362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Kullanıcıların beğendiği kitapları saklayan tablo.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6515100" y="819150"/>
            <a:ext cx="56959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KVKK Uyumluluğu</a:t>
            </a:r>
            <a:endParaRPr lang="en-US" sz="1800" dirty="0"/>
          </a:p>
        </p:txBody>
      </p:sp>
      <p:sp>
        <p:nvSpPr>
          <p:cNvPr id="37" name="Text 12"/>
          <p:cNvSpPr/>
          <p:nvPr/>
        </p:nvSpPr>
        <p:spPr>
          <a:xfrm>
            <a:off x="6553200" y="1352550"/>
            <a:ext cx="5467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KVKK ve gizlilik prensipleri gereği, kullanıcıların Yapay Zeka Asistanı ile yaptığı görüşmeler veritabanına kaydedilmemekte, sadece anlık oturum (session) süresince işlenmektedir.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486525" y="2343150"/>
            <a:ext cx="6835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Veri Güvenliği Yaklaşımları</a:t>
            </a:r>
            <a:endParaRPr lang="en-US" sz="1800" dirty="0"/>
          </a:p>
        </p:txBody>
      </p:sp>
      <p:sp>
        <p:nvSpPr>
          <p:cNvPr id="39" name="Text 14"/>
          <p:cNvSpPr/>
          <p:nvPr/>
        </p:nvSpPr>
        <p:spPr>
          <a:xfrm>
            <a:off x="6696075" y="2762250"/>
            <a:ext cx="5210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Injection Koruması</a:t>
            </a:r>
            <a:endParaRPr lang="en-US" sz="1350" dirty="0"/>
          </a:p>
        </p:txBody>
      </p:sp>
      <p:sp>
        <p:nvSpPr>
          <p:cNvPr id="40" name="Text 15"/>
          <p:cNvSpPr/>
          <p:nvPr/>
        </p:nvSpPr>
        <p:spPr>
          <a:xfrm>
            <a:off x="6696075" y="3028950"/>
            <a:ext cx="5210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Tüm veri girişleri PDO prepare ve execute yöntemleri ile filtrelenerek veritabanı saldırıları engellenmiştir.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6696075" y="3600450"/>
            <a:ext cx="5210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Oturum Güvenliği</a:t>
            </a:r>
            <a:endParaRPr lang="en-US" sz="1350" dirty="0"/>
          </a:p>
        </p:txBody>
      </p:sp>
      <p:sp>
        <p:nvSpPr>
          <p:cNvPr id="42" name="Text 17"/>
          <p:cNvSpPr/>
          <p:nvPr/>
        </p:nvSpPr>
        <p:spPr>
          <a:xfrm>
            <a:off x="6696075" y="3867150"/>
            <a:ext cx="5210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Yetkisiz erişimleri önlemek için `session_start()` ve yetki kontrolleri her sayfada uygulanmaktadır.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6696075" y="4438650"/>
            <a:ext cx="5210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 Koruması</a:t>
            </a:r>
            <a:endParaRPr lang="en-US" sz="1350" dirty="0"/>
          </a:p>
        </p:txBody>
      </p:sp>
      <p:sp>
        <p:nvSpPr>
          <p:cNvPr id="44" name="Text 19"/>
          <p:cNvSpPr/>
          <p:nvPr/>
        </p:nvSpPr>
        <p:spPr>
          <a:xfrm>
            <a:off x="6696075" y="4705350"/>
            <a:ext cx="5210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zekanın sistem dışı konulara (siyaset vb.) girmemesi için sistem talimatları (System Instructions) ile sınırlandırılmıştır.</a:t>
            </a:r>
            <a:endParaRPr lang="en-US" sz="1200" dirty="0"/>
          </a:p>
        </p:txBody>
      </p:sp>
      <p:sp>
        <p:nvSpPr>
          <p:cNvPr id="45" name="Text 20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21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819150"/>
            <a:ext cx="6911280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96202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1057275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295525"/>
            <a:ext cx="6911280" cy="1333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38400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" y="253365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771900"/>
            <a:ext cx="691128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" y="3914775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401002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9430" y="1690007"/>
            <a:ext cx="4556671" cy="2324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4680" y="1785257"/>
            <a:ext cx="4366171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0880" y="1899557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4680" y="2194761"/>
            <a:ext cx="3346549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8996" y="2431509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5707" y="2857500"/>
            <a:ext cx="3346549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4758" y="3297910"/>
            <a:ext cx="3346549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7000" y="3539918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5750" y="5400675"/>
            <a:ext cx="11620500" cy="1028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2905" y="5543550"/>
            <a:ext cx="1333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 Entegrasyonu ve Chatbot Özellikleri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914400" y="962025"/>
            <a:ext cx="73677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 API Entegrasyonu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914400" y="1228725"/>
            <a:ext cx="613975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Sistem, Google Gemini yapay zeka API'si ile doğal dil işleme yeteneğine sahiptir. Kullanıcıların "Polisiye roman severim ama kısa olsun" gibi doğal dildeki isteklerine uygun kitap önerileri sunar.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914400" y="2438400"/>
            <a:ext cx="61397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Akıllı Kitap Önerileri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914400" y="2705100"/>
            <a:ext cx="613975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Chatbot, kullanıcıların isteklerine göre kütüphane envanterindeki uygun kitapları önerir. Sistem, yalnızca mevcut olan kitapları önererek yanlış bilgi üretme riskini ortadan kaldırır.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914400" y="3914775"/>
            <a:ext cx="73677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 Talimatları (System Instructions)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914400" y="4181475"/>
            <a:ext cx="613975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zekanın sistem dışı konulara (siyaset, spor vb.) girmemesi için sınırlamalar vardır. Sadece kütüphane ile ilgili bilgiler vererek, kullanıcıya doğru ve güvenli bilgiler sunulmasını sağlar.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7787580" y="1785257"/>
            <a:ext cx="436617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 Chatbot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7845696" y="2326734"/>
            <a:ext cx="3346549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Merhaba! Size nasıl yardımcı olabilirim?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8519981" y="2936334"/>
            <a:ext cx="401585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Polisiye roman severim ama kısa olsun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7769496" y="3387518"/>
            <a:ext cx="2922567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Baybayrın Kırık Dişleri adlı kısa polisiye romanını öneriyorum.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400050" y="5514975"/>
            <a:ext cx="11391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Chatbot Tasarımı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400050" y="5857875"/>
            <a:ext cx="11391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Chatbot arayüzü, kullanıcı deneyimini bölmeyen, sağ alt köşede yer alan ve ihtiyaç duyulduğunda açılan "Sticky" (Yapışkan) bir pencere olarak kurgulanmıştır. Kullanıcılar, kitap önerileri almak için doğal dilde sorgular yapabilirler.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819150"/>
            <a:ext cx="1162050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962025"/>
            <a:ext cx="325189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420" y="1019175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209800"/>
            <a:ext cx="11620500" cy="1238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2352675"/>
            <a:ext cx="342305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052" y="2409825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600450"/>
            <a:ext cx="11620500" cy="1238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3743325"/>
            <a:ext cx="26863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93" y="3800475"/>
            <a:ext cx="1333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Kullanıcı Deneyimi ve Arayüz Tasarımı</a:t>
            </a:r>
            <a:endParaRPr lang="en-US" sz="2250" dirty="0"/>
          </a:p>
        </p:txBody>
      </p:sp>
      <p:sp>
        <p:nvSpPr>
          <p:cNvPr id="15" name="Text 1"/>
          <p:cNvSpPr/>
          <p:nvPr/>
        </p:nvSpPr>
        <p:spPr>
          <a:xfrm>
            <a:off x="896689" y="962025"/>
            <a:ext cx="108666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Minimalist Tasarım</a:t>
            </a:r>
            <a:endParaRPr lang="en-US" sz="1350" dirty="0"/>
          </a:p>
        </p:txBody>
      </p:sp>
      <p:sp>
        <p:nvSpPr>
          <p:cNvPr id="16" name="Text 2"/>
          <p:cNvSpPr/>
          <p:nvPr/>
        </p:nvSpPr>
        <p:spPr>
          <a:xfrm>
            <a:off x="896689" y="1228725"/>
            <a:ext cx="108666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Figma platformunda "Minimalizm" ve "Kullanıcı Odaklılık" ilkeleriyle hazırlanan arayüz, kütüphane atmosferini yansıtmak için Krem ve Koyu Ahşap tonları kullanılmıştır.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913805" y="2352675"/>
            <a:ext cx="10849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 Asistanı</a:t>
            </a:r>
            <a:endParaRPr lang="en-US" sz="1350" dirty="0"/>
          </a:p>
        </p:txBody>
      </p:sp>
      <p:sp>
        <p:nvSpPr>
          <p:cNvPr id="18" name="Text 4"/>
          <p:cNvSpPr/>
          <p:nvPr/>
        </p:nvSpPr>
        <p:spPr>
          <a:xfrm>
            <a:off x="913805" y="2619375"/>
            <a:ext cx="108495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Chatbot arayüzü, kullanıcı deneyimini bölmeyen, sağ alt köşede yer alan ve ihtiyaç duyulduğunda açılan "Sticky" (Yapışkan) bir pencere olarak kurgulanmıştır.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840135" y="3743325"/>
            <a:ext cx="10923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Duyarlı Tasarım</a:t>
            </a:r>
            <a:endParaRPr lang="en-US" sz="1350" dirty="0"/>
          </a:p>
        </p:txBody>
      </p:sp>
      <p:sp>
        <p:nvSpPr>
          <p:cNvPr id="20" name="Text 6"/>
          <p:cNvSpPr/>
          <p:nvPr/>
        </p:nvSpPr>
        <p:spPr>
          <a:xfrm>
            <a:off x="840135" y="4010025"/>
            <a:ext cx="109232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CSS Grid ve Flexbox yapıları kullanılarak %100 responsive (duyarlı) hale getirilmiştir. Sayfa yenilemeleri minimize edilmiş, bilgilendirme amaçlı "Toast Mesajları" ve işlem pencereleri (Modal) kullanılmıştır.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914400"/>
            <a:ext cx="569595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049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27635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" y="22669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914400"/>
            <a:ext cx="569595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1049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127635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2800" y="20383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048000"/>
            <a:ext cx="5695950" cy="1714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32385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3409950"/>
            <a:ext cx="2857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" y="41719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048000"/>
            <a:ext cx="5695950" cy="1714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385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2800" y="44005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750" y="5181600"/>
            <a:ext cx="11620500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9562" y="5372100"/>
            <a:ext cx="17145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Güvenlik Önlemleri ve Sistem Koruması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1238250" y="11049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Key Güvenliği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238250" y="1447800"/>
            <a:ext cx="4552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 API anahtarı, istemci tarafında (tarayıcıda) görünmeyecek şekilde sunucu tarafından (Backend) izole edilmiştir.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466850" y="2247900"/>
            <a:ext cx="366867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anahtarı asla client-side kodda saklanmaz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7162800" y="1104900"/>
            <a:ext cx="5463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Injection Koruması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7162800" y="14478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Tüm veri girişleri PDO prepare ve execute yöntemleri ile filtrelenerek veritabanı saldırıları engellenmiştir.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7391400" y="2019300"/>
            <a:ext cx="41844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Hazırlanmış ifadeler (prepared statements) kullanılır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1238250" y="32385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Oturum Güvenliği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1238250" y="35814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Yetkisiz erişimleri önlemek için session_start() ve yetki kontrolleri her sayfada uygulanmaktadır.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1466850" y="4152900"/>
            <a:ext cx="334934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Her sayfa erişiminde yetki kontrolü yapılır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7162800" y="32385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 Koruması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7162800" y="3581400"/>
            <a:ext cx="4552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zekanın sistem dışı konulara (siyaset vb.) girmemesi için sistem talimatları (System Instructions) ile sınırlandırılmıştır.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7391400" y="4381500"/>
            <a:ext cx="44075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 talimatları ile AI davranışları kontrol altına alınır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438150" y="5334000"/>
            <a:ext cx="11315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Genel Güvenlik Yaklaşımı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438150" y="5676900"/>
            <a:ext cx="11315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DijitalRaf, çok yönlü bir savunma mekanizması kurularak geliştirilmiştir. Sistem, veri bütünlüğünü koruyacak şekilde tasarlanmış ve potansiyel tehditlere karşı önlem alınmıştır.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819150"/>
            <a:ext cx="5734050" cy="2000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962025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688" y="106680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819150"/>
            <a:ext cx="5734050" cy="2000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962025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3663" y="106680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750" y="3114675"/>
            <a:ext cx="5734050" cy="2800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" y="32575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213" y="3362325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3114675"/>
            <a:ext cx="5734050" cy="2800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32575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7950" y="3362325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200" y="4133850"/>
            <a:ext cx="4829175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10400" y="421005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10400" y="4514850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10400" y="481965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10400" y="5200650"/>
            <a:ext cx="18544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285750" y="142875"/>
            <a:ext cx="116205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Süreçleri ve Kalite Kontrolü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1047750" y="962025"/>
            <a:ext cx="482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Doğruluk Testleri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047750" y="1304925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Chatbot'un sadece veritabanındaki mevcut kitapları önermesi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047750" y="1762125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 talimatları revize edilerek halüsinasyon (yanlış bilgi üretme) riski ortadan kaldırılmıştır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047750" y="2219325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Chatbot'un yalnızca kütüphane envanterindeki kitapları önermesi sağlanmıştır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934200" y="962025"/>
            <a:ext cx="482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Birim Testleri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6934200" y="1304925"/>
            <a:ext cx="5795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Stok durumu "0" olan bir kitabın kiralanmaya çalışılması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6934200" y="1533525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Gerekli backend blokajları eklenerek, stokta olmayan kitapların kiralanması engellenmiştir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934200" y="1990725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Kiralama ve stok yönetimi gibi temel fonksiyonların doğru çalışıp çalışmadığı kontrol edilmiştir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1047750" y="3257550"/>
            <a:ext cx="482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UI Testleri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1047750" y="3600450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Farklı ekran boyutlarında chatbot penceresinin yerleşimi ve genel arayüzün görünümü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047750" y="4057650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CSS düzenlemeleri yapılarak arayüzün tüm cihazlarda kusursuz görüntülenmesi sağlanmıştır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047750" y="4514850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Kullanıcı arayüzünün farklı cihaz ve ekran boyutlarında doğru görüntülenip görüntülenmediği kontrol edilmiştir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934200" y="3257550"/>
            <a:ext cx="482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İade ve Stok Testleri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6934200" y="3600450"/>
            <a:ext cx="48291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Kullanıcının "İade Et" butonuna basması ve stok miktarının güncellenmesi: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082135" y="4210050"/>
            <a:ext cx="27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7334250" y="4229100"/>
            <a:ext cx="273641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Kullanıcı "İade Et" butonuna basar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7082135" y="4514850"/>
            <a:ext cx="27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7334250" y="4533900"/>
            <a:ext cx="219170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Stok miktarı hemen artmaz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7082135" y="4819650"/>
            <a:ext cx="27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7334250" y="4838700"/>
            <a:ext cx="476202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 "Kargoya Verildi / İade İnceleniyor" durumuna geçer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7060555" y="5200650"/>
            <a:ext cx="2225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22"/>
          <p:cNvSpPr/>
          <p:nvPr/>
        </p:nvSpPr>
        <p:spPr>
          <a:xfrm>
            <a:off x="7291090" y="5124450"/>
            <a:ext cx="439608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İade süreci başarıyla tamamlanıp yönetici onayı alındıktan sonra stok güncellenir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866775"/>
            <a:ext cx="5743575" cy="28003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03822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287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154305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765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25908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866775"/>
            <a:ext cx="5743575" cy="2800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3175" y="1038225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175" y="14287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154305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3175" y="22479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3622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8125" y="3810000"/>
            <a:ext cx="11715750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398145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4371975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5775" y="4486275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4371975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67450" y="4486275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285750" y="142875"/>
            <a:ext cx="13944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 Sonuçları ve Gelecek Perspektifi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685800" y="1009650"/>
            <a:ext cx="54578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Proje Çıktısı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904875" y="1428750"/>
            <a:ext cx="5920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 Kütüphane Otomasyon Sistemi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904875" y="1695450"/>
            <a:ext cx="4933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Geleneksel kütüphane sistemlerinin statik yapısını, Google Gemini yapay zeka ile güçlendirerek modern kütüphane otomasyon sistemine dönüştürmüştür.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904875" y="2476500"/>
            <a:ext cx="4933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Yapay Zeka Entegrasyonu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904875" y="2743200"/>
            <a:ext cx="4933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Klasik web programlama teknikleri ile yeni nesil yapay zeka servislerini harmanlayarak, alanında yenilikçi bir örnek teşkil etmektedir.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6657975" y="1009650"/>
            <a:ext cx="65493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Modüler Yapı Avantajları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6877050" y="1428750"/>
            <a:ext cx="5920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Tekrar Kullanılabilirlik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6877050" y="1695450"/>
            <a:ext cx="4933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Veritabanı bağlantı sınıfı ve Frontend bileşenleri (Modal, Toast mesajları) başka projelerde kullanılabilir niteliktedir.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877050" y="2247900"/>
            <a:ext cx="4933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Esneklik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6877050" y="2514600"/>
            <a:ext cx="4933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Sistem, ihtiyaç duyulduğunda kolaylıkla geliştirilebilir ve yeni özellikler eklenabilir.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85800" y="3952875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Gelecek Perspektifi</a:t>
            </a:r>
            <a:endParaRPr lang="en-US" sz="1800" dirty="0"/>
          </a:p>
        </p:txBody>
      </p:sp>
      <p:sp>
        <p:nvSpPr>
          <p:cNvPr id="35" name="Text 12"/>
          <p:cNvSpPr/>
          <p:nvPr/>
        </p:nvSpPr>
        <p:spPr>
          <a:xfrm>
            <a:off x="904875" y="4371975"/>
            <a:ext cx="5114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E-ticaret Entegrasyonu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904875" y="4638675"/>
            <a:ext cx="5114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"Sistem Talimat" değiştirilerek e-ticaret platformlarına entegre edilebilir.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696075" y="4371975"/>
            <a:ext cx="48732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Eğitim Platformları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6696075" y="4638675"/>
            <a:ext cx="58478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Modülü eğitim siteleri gibi farklı platformlara da uyarlanabilir.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285750" y="6534150"/>
            <a:ext cx="567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7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DijitalRaf: Yapay Zeka Destekli Kütüphane Otomasyon Sistemi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3256407" y="3167390"/>
            <a:ext cx="5679183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tr-TR" sz="2800" dirty="0" smtClean="0"/>
              <a:t>BİZİ DİNLEDİĞİNİZ İÇİN TEŞEKKÜRLER!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36752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1315</Words>
  <Application>Microsoft Office PowerPoint</Application>
  <PresentationFormat>Özel</PresentationFormat>
  <Paragraphs>182</Paragraphs>
  <Slides>11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2025-12-21T13:18:26Z</dcterms:created>
  <dcterms:modified xsi:type="dcterms:W3CDTF">2025-12-21T13:23:49Z</dcterms:modified>
</cp:coreProperties>
</file>